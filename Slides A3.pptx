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F7F9F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8BC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7F9F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38BC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37" y="2281232"/>
            <a:ext cx="5238739" cy="19811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7F9F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1552571"/>
            <a:ext cx="11048977" cy="47339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F7F9F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298" y="542796"/>
            <a:ext cx="5948680" cy="505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F7F9F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798" y="1600641"/>
            <a:ext cx="5047615" cy="4413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8BCF7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98169" y="2740704"/>
            <a:ext cx="6595745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4810" marR="5080" indent="-1642745">
              <a:lnSpc>
                <a:spcPct val="110000"/>
              </a:lnSpc>
              <a:spcBef>
                <a:spcPts val="100"/>
              </a:spcBef>
            </a:pPr>
            <a:r>
              <a:rPr sz="4800" spc="-180" dirty="0">
                <a:solidFill>
                  <a:srgbClr val="F7F9FB"/>
                </a:solidFill>
                <a:latin typeface="Arial Black"/>
                <a:cs typeface="Arial Black"/>
              </a:rPr>
              <a:t>Predição</a:t>
            </a:r>
            <a:r>
              <a:rPr sz="4800" spc="-555" dirty="0">
                <a:solidFill>
                  <a:srgbClr val="F7F9FB"/>
                </a:solidFill>
                <a:latin typeface="Arial Black"/>
                <a:cs typeface="Arial Black"/>
              </a:rPr>
              <a:t> </a:t>
            </a:r>
            <a:r>
              <a:rPr sz="4800" spc="-105" dirty="0">
                <a:solidFill>
                  <a:srgbClr val="F7F9FB"/>
                </a:solidFill>
                <a:latin typeface="Arial Black"/>
                <a:cs typeface="Arial Black"/>
              </a:rPr>
              <a:t>de</a:t>
            </a:r>
            <a:r>
              <a:rPr sz="4800" spc="-550" dirty="0">
                <a:solidFill>
                  <a:srgbClr val="F7F9FB"/>
                </a:solidFill>
                <a:latin typeface="Arial Black"/>
                <a:cs typeface="Arial Black"/>
              </a:rPr>
              <a:t> </a:t>
            </a:r>
            <a:r>
              <a:rPr sz="4800" spc="-150" dirty="0">
                <a:solidFill>
                  <a:srgbClr val="F7F9FB"/>
                </a:solidFill>
                <a:latin typeface="Arial Black"/>
                <a:cs typeface="Arial Black"/>
              </a:rPr>
              <a:t>Doenças </a:t>
            </a:r>
            <a:r>
              <a:rPr sz="4800" spc="-10" dirty="0">
                <a:solidFill>
                  <a:srgbClr val="38BCF7"/>
                </a:solidFill>
                <a:latin typeface="Arial Black"/>
                <a:cs typeface="Arial Black"/>
              </a:rPr>
              <a:t>Cardíacas</a:t>
            </a:r>
            <a:endParaRPr sz="48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9989" y="4435218"/>
            <a:ext cx="7504430" cy="85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00" spc="75" dirty="0">
                <a:solidFill>
                  <a:srgbClr val="CAD4E1"/>
                </a:solidFill>
                <a:latin typeface="Tahoma"/>
                <a:cs typeface="Tahoma"/>
              </a:rPr>
              <a:t>Otimizando</a:t>
            </a:r>
            <a:r>
              <a:rPr sz="2100" spc="-5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2100" spc="90" dirty="0">
                <a:solidFill>
                  <a:srgbClr val="CAD4E1"/>
                </a:solidFill>
                <a:latin typeface="Tahoma"/>
                <a:cs typeface="Tahoma"/>
              </a:rPr>
              <a:t>Diagnósticos</a:t>
            </a:r>
            <a:r>
              <a:rPr sz="21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2100" spc="125" dirty="0">
                <a:solidFill>
                  <a:srgbClr val="CAD4E1"/>
                </a:solidFill>
                <a:latin typeface="Tahoma"/>
                <a:cs typeface="Tahoma"/>
              </a:rPr>
              <a:t>com</a:t>
            </a:r>
            <a:r>
              <a:rPr sz="21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2100" spc="114" dirty="0">
                <a:solidFill>
                  <a:srgbClr val="CAD4E1"/>
                </a:solidFill>
                <a:latin typeface="Tahoma"/>
                <a:cs typeface="Tahoma"/>
              </a:rPr>
              <a:t>Machine</a:t>
            </a:r>
            <a:r>
              <a:rPr sz="21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2100" spc="80" dirty="0">
                <a:solidFill>
                  <a:srgbClr val="CAD4E1"/>
                </a:solidFill>
                <a:latin typeface="Tahoma"/>
                <a:cs typeface="Tahoma"/>
              </a:rPr>
              <a:t>Learning</a:t>
            </a:r>
            <a:r>
              <a:rPr sz="21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2100" spc="120" dirty="0">
                <a:solidFill>
                  <a:srgbClr val="CAD4E1"/>
                </a:solidFill>
                <a:latin typeface="Tahoma"/>
                <a:cs typeface="Tahoma"/>
              </a:rPr>
              <a:t>e</a:t>
            </a:r>
            <a:r>
              <a:rPr sz="21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2100" spc="110" dirty="0">
                <a:solidFill>
                  <a:srgbClr val="CAD4E1"/>
                </a:solidFill>
                <a:latin typeface="Tahoma"/>
                <a:cs typeface="Tahoma"/>
              </a:rPr>
              <a:t>Modelos</a:t>
            </a:r>
            <a:endParaRPr sz="21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  <a:spcBef>
                <a:spcPts val="1510"/>
              </a:spcBef>
            </a:pPr>
            <a:r>
              <a:rPr sz="2100" spc="80" dirty="0">
                <a:solidFill>
                  <a:srgbClr val="CAD4E1"/>
                </a:solidFill>
                <a:latin typeface="Tahoma"/>
                <a:cs typeface="Tahoma"/>
              </a:rPr>
              <a:t>Supervisionados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488" y="1384097"/>
            <a:ext cx="1142997" cy="1142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Introdução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71498" y="571498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49" y="600073"/>
                </a:moveTo>
                <a:lnTo>
                  <a:pt x="0" y="600073"/>
                </a:lnTo>
                <a:lnTo>
                  <a:pt x="0" y="0"/>
                </a:lnTo>
                <a:lnTo>
                  <a:pt x="57149" y="0"/>
                </a:lnTo>
                <a:lnTo>
                  <a:pt x="57149" y="600073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37" y="2014533"/>
            <a:ext cx="5238739" cy="38099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8798" y="2105465"/>
            <a:ext cx="5168265" cy="346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100" spc="-105" dirty="0">
                <a:solidFill>
                  <a:srgbClr val="38BCF7"/>
                </a:solidFill>
                <a:latin typeface="Arial Black"/>
                <a:cs typeface="Arial Black"/>
              </a:rPr>
              <a:t>O</a:t>
            </a:r>
            <a:r>
              <a:rPr sz="2100" spc="-26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38BCF7"/>
                </a:solidFill>
                <a:latin typeface="Arial Black"/>
                <a:cs typeface="Arial Black"/>
              </a:rPr>
              <a:t>Problema</a:t>
            </a:r>
            <a:endParaRPr sz="2100">
              <a:latin typeface="Arial Black"/>
              <a:cs typeface="Arial Black"/>
            </a:endParaRPr>
          </a:p>
          <a:p>
            <a:pPr marL="12700" marR="5080" algn="just">
              <a:lnSpc>
                <a:spcPct val="160000"/>
              </a:lnSpc>
              <a:spcBef>
                <a:spcPts val="1070"/>
              </a:spcBef>
            </a:pP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Doenças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cardiovasculares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representam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principal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causa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mortalidade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global.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125" dirty="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CAD4E1"/>
                </a:solidFill>
                <a:latin typeface="Tahoma"/>
                <a:cs typeface="Tahoma"/>
              </a:rPr>
              <a:t>detecção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precoce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é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crítica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CAD4E1"/>
                </a:solidFill>
                <a:latin typeface="Tahoma"/>
                <a:cs typeface="Tahoma"/>
              </a:rPr>
              <a:t>para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intervenções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eficazes.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5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100" spc="-105" dirty="0">
                <a:solidFill>
                  <a:srgbClr val="38BCF7"/>
                </a:solidFill>
                <a:latin typeface="Arial Black"/>
                <a:cs typeface="Arial Black"/>
              </a:rPr>
              <a:t>A</a:t>
            </a:r>
            <a:r>
              <a:rPr sz="2100" spc="-254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38BCF7"/>
                </a:solidFill>
                <a:latin typeface="Arial Black"/>
                <a:cs typeface="Arial Black"/>
              </a:rPr>
              <a:t>Solução</a:t>
            </a:r>
            <a:endParaRPr sz="2100">
              <a:latin typeface="Arial Black"/>
              <a:cs typeface="Arial Black"/>
            </a:endParaRPr>
          </a:p>
          <a:p>
            <a:pPr marL="12700" marR="60325">
              <a:lnSpc>
                <a:spcPct val="160000"/>
              </a:lnSpc>
              <a:spcBef>
                <a:spcPts val="1070"/>
              </a:spcBef>
            </a:pP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Utilização</a:t>
            </a:r>
            <a:r>
              <a:rPr sz="1500" spc="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CAD4E1"/>
                </a:solidFill>
                <a:latin typeface="Tahoma"/>
                <a:cs typeface="Tahoma"/>
              </a:rPr>
              <a:t>algoritmos</a:t>
            </a:r>
            <a:r>
              <a:rPr sz="1500" spc="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CAD4E1"/>
                </a:solidFill>
                <a:latin typeface="Tahoma"/>
                <a:cs typeface="Tahoma"/>
              </a:rPr>
              <a:t>classificação</a:t>
            </a:r>
            <a:r>
              <a:rPr sz="1500" spc="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para</a:t>
            </a:r>
            <a:r>
              <a:rPr sz="1500" spc="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CAD4E1"/>
                </a:solidFill>
                <a:latin typeface="Tahoma"/>
                <a:cs typeface="Tahoma"/>
              </a:rPr>
              <a:t>identificar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padrões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clínicos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e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prever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riscos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CAD4E1"/>
                </a:solidFill>
                <a:latin typeface="Tahoma"/>
                <a:cs typeface="Tahoma"/>
              </a:rPr>
              <a:t>cardíacos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95" dirty="0">
                <a:solidFill>
                  <a:srgbClr val="CAD4E1"/>
                </a:solidFill>
                <a:latin typeface="Tahoma"/>
                <a:cs typeface="Tahoma"/>
              </a:rPr>
              <a:t>com</a:t>
            </a:r>
            <a:r>
              <a:rPr sz="1500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alta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precisão.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014533"/>
            <a:ext cx="5238739" cy="38099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9298" y="542796"/>
            <a:ext cx="3030220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Base</a:t>
            </a:r>
            <a:r>
              <a:rPr spc="-365" dirty="0"/>
              <a:t> </a:t>
            </a:r>
            <a:r>
              <a:rPr spc="-70" dirty="0"/>
              <a:t>de</a:t>
            </a:r>
            <a:r>
              <a:rPr spc="-360" dirty="0"/>
              <a:t> </a:t>
            </a:r>
            <a:r>
              <a:rPr spc="-60" dirty="0"/>
              <a:t>Dados</a:t>
            </a:r>
          </a:p>
        </p:txBody>
      </p:sp>
      <p:sp>
        <p:nvSpPr>
          <p:cNvPr id="4" name="object 4"/>
          <p:cNvSpPr/>
          <p:nvPr/>
        </p:nvSpPr>
        <p:spPr>
          <a:xfrm>
            <a:off x="571498" y="571498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49" y="600073"/>
                </a:moveTo>
                <a:lnTo>
                  <a:pt x="0" y="600073"/>
                </a:lnTo>
                <a:lnTo>
                  <a:pt x="0" y="0"/>
                </a:lnTo>
                <a:lnTo>
                  <a:pt x="57149" y="0"/>
                </a:lnTo>
                <a:lnTo>
                  <a:pt x="57149" y="600073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69037" y="2476939"/>
            <a:ext cx="4805045" cy="266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90" dirty="0">
                <a:solidFill>
                  <a:srgbClr val="38BCF7"/>
                </a:solidFill>
                <a:latin typeface="Arial Black"/>
                <a:cs typeface="Arial Black"/>
              </a:rPr>
              <a:t>Heart</a:t>
            </a:r>
            <a:r>
              <a:rPr sz="2100" spc="-22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00" dirty="0">
                <a:solidFill>
                  <a:srgbClr val="38BCF7"/>
                </a:solidFill>
                <a:latin typeface="Arial Black"/>
                <a:cs typeface="Arial Black"/>
              </a:rPr>
              <a:t>Disease</a:t>
            </a:r>
            <a:r>
              <a:rPr sz="2100" spc="-22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85" dirty="0">
                <a:solidFill>
                  <a:srgbClr val="38BCF7"/>
                </a:solidFill>
                <a:latin typeface="Arial Black"/>
                <a:cs typeface="Arial Black"/>
              </a:rPr>
              <a:t>Dataset</a:t>
            </a:r>
            <a:r>
              <a:rPr sz="2100" spc="-22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38BCF7"/>
                </a:solidFill>
                <a:latin typeface="Arial Black"/>
                <a:cs typeface="Arial Black"/>
              </a:rPr>
              <a:t>(Kaggle)</a:t>
            </a:r>
            <a:endParaRPr sz="2100">
              <a:latin typeface="Arial Black"/>
              <a:cs typeface="Arial Black"/>
            </a:endParaRPr>
          </a:p>
          <a:p>
            <a:pPr marL="345440">
              <a:lnSpc>
                <a:spcPct val="100000"/>
              </a:lnSpc>
              <a:spcBef>
                <a:spcPts val="1850"/>
              </a:spcBef>
            </a:pPr>
            <a:r>
              <a:rPr sz="1500" b="1" spc="-20" dirty="0">
                <a:solidFill>
                  <a:srgbClr val="CAD4E1"/>
                </a:solidFill>
                <a:latin typeface="Tahoma"/>
                <a:cs typeface="Tahoma"/>
              </a:rPr>
              <a:t>Amostra:</a:t>
            </a:r>
            <a:r>
              <a:rPr sz="1500" b="1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1.025</a:t>
            </a:r>
            <a:r>
              <a:rPr sz="1500" spc="-8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pacientes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500">
              <a:latin typeface="Tahoma"/>
              <a:cs typeface="Tahoma"/>
            </a:endParaRPr>
          </a:p>
          <a:p>
            <a:pPr marL="345440">
              <a:lnSpc>
                <a:spcPct val="100000"/>
              </a:lnSpc>
            </a:pPr>
            <a:r>
              <a:rPr sz="1500" b="1" spc="-30" dirty="0">
                <a:solidFill>
                  <a:srgbClr val="CAD4E1"/>
                </a:solidFill>
                <a:latin typeface="Tahoma"/>
                <a:cs typeface="Tahoma"/>
              </a:rPr>
              <a:t>Atributos:</a:t>
            </a:r>
            <a:r>
              <a:rPr sz="1500" b="1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14</a:t>
            </a:r>
            <a:r>
              <a:rPr sz="1500" spc="-5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variáveis</a:t>
            </a:r>
            <a:r>
              <a:rPr sz="1500" spc="-5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clínicas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500">
              <a:latin typeface="Tahoma"/>
              <a:cs typeface="Tahoma"/>
            </a:endParaRPr>
          </a:p>
          <a:p>
            <a:pPr marL="345440">
              <a:lnSpc>
                <a:spcPct val="100000"/>
              </a:lnSpc>
            </a:pPr>
            <a:r>
              <a:rPr sz="1500" b="1" dirty="0">
                <a:solidFill>
                  <a:srgbClr val="CAD4E1"/>
                </a:solidFill>
                <a:latin typeface="Tahoma"/>
                <a:cs typeface="Tahoma"/>
              </a:rPr>
              <a:t>Classes:</a:t>
            </a:r>
            <a:r>
              <a:rPr sz="1500" b="1" spc="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526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95" dirty="0">
                <a:solidFill>
                  <a:srgbClr val="CAD4E1"/>
                </a:solidFill>
                <a:latin typeface="Tahoma"/>
                <a:cs typeface="Tahoma"/>
              </a:rPr>
              <a:t>com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doença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/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110" dirty="0">
                <a:solidFill>
                  <a:srgbClr val="CAD4E1"/>
                </a:solidFill>
                <a:latin typeface="Tahoma"/>
                <a:cs typeface="Tahoma"/>
              </a:rPr>
              <a:t>499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sem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doença</a:t>
            </a:r>
            <a:endParaRPr sz="1500">
              <a:latin typeface="Tahoma"/>
              <a:cs typeface="Tahoma"/>
            </a:endParaRPr>
          </a:p>
          <a:p>
            <a:pPr marL="345440" marR="5080">
              <a:lnSpc>
                <a:spcPct val="160000"/>
              </a:lnSpc>
              <a:spcBef>
                <a:spcPts val="1019"/>
              </a:spcBef>
            </a:pPr>
            <a:r>
              <a:rPr sz="1500" b="1" spc="-25" dirty="0">
                <a:solidFill>
                  <a:srgbClr val="CAD4E1"/>
                </a:solidFill>
                <a:latin typeface="Tahoma"/>
                <a:cs typeface="Tahoma"/>
              </a:rPr>
              <a:t>Features:</a:t>
            </a:r>
            <a:r>
              <a:rPr sz="1500" b="1" spc="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Idade,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Sexo,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Colesterol,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Glicemia,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ECG,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Pressão</a:t>
            </a:r>
            <a:r>
              <a:rPr sz="1500" spc="1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Arterial,</a:t>
            </a:r>
            <a:r>
              <a:rPr sz="1500" spc="1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etc.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37" y="3052743"/>
            <a:ext cx="190499" cy="200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37" y="3548042"/>
            <a:ext cx="190499" cy="200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37" y="4043341"/>
            <a:ext cx="190499" cy="2000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37" y="4538640"/>
            <a:ext cx="190499" cy="200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138358"/>
            <a:ext cx="3492392" cy="356233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641" y="2138358"/>
            <a:ext cx="3492542" cy="356233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127934" y="2138358"/>
            <a:ext cx="3492500" cy="3562350"/>
            <a:chOff x="8127934" y="2138358"/>
            <a:chExt cx="3492500" cy="356235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27934" y="2138358"/>
              <a:ext cx="3492392" cy="35623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23208" y="2433632"/>
              <a:ext cx="190499" cy="38098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4" dirty="0"/>
              <a:t>Definição</a:t>
            </a:r>
            <a:r>
              <a:rPr spc="-350" dirty="0"/>
              <a:t> </a:t>
            </a:r>
            <a:r>
              <a:rPr spc="-50" dirty="0"/>
              <a:t>do</a:t>
            </a:r>
            <a:r>
              <a:rPr spc="-350" dirty="0"/>
              <a:t> </a:t>
            </a:r>
            <a:r>
              <a:rPr spc="-45" dirty="0"/>
              <a:t>Problema</a:t>
            </a:r>
          </a:p>
        </p:txBody>
      </p:sp>
      <p:sp>
        <p:nvSpPr>
          <p:cNvPr id="8" name="object 8"/>
          <p:cNvSpPr/>
          <p:nvPr/>
        </p:nvSpPr>
        <p:spPr>
          <a:xfrm>
            <a:off x="571498" y="571498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49" y="600073"/>
                </a:moveTo>
                <a:lnTo>
                  <a:pt x="0" y="600073"/>
                </a:lnTo>
                <a:lnTo>
                  <a:pt x="0" y="0"/>
                </a:lnTo>
                <a:lnTo>
                  <a:pt x="57149" y="0"/>
                </a:lnTo>
                <a:lnTo>
                  <a:pt x="57149" y="600073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6773" y="2433632"/>
            <a:ext cx="380999" cy="38098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54073" y="2981763"/>
            <a:ext cx="29400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0" dirty="0">
                <a:solidFill>
                  <a:srgbClr val="38BCF7"/>
                </a:solidFill>
                <a:latin typeface="Arial Black"/>
                <a:cs typeface="Arial Black"/>
              </a:rPr>
              <a:t>Classificação</a:t>
            </a:r>
            <a:r>
              <a:rPr sz="2100" spc="-15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35" dirty="0">
                <a:solidFill>
                  <a:srgbClr val="38BCF7"/>
                </a:solidFill>
                <a:latin typeface="Arial Black"/>
                <a:cs typeface="Arial Black"/>
              </a:rPr>
              <a:t>Binária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4073" y="3975409"/>
            <a:ext cx="2787015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O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AD4E1"/>
                </a:solidFill>
                <a:latin typeface="Tahoma"/>
                <a:cs typeface="Tahoma"/>
              </a:rPr>
              <a:t>objetivo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é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prever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presença</a:t>
            </a:r>
            <a:endParaRPr sz="1500">
              <a:latin typeface="Tahoma"/>
              <a:cs typeface="Tahoma"/>
            </a:endParaRPr>
          </a:p>
          <a:p>
            <a:pPr marL="12700" marR="231775">
              <a:lnSpc>
                <a:spcPct val="160000"/>
              </a:lnSpc>
            </a:pP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ou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ausência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doença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com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base</a:t>
            </a:r>
            <a:r>
              <a:rPr sz="15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em</a:t>
            </a:r>
            <a:r>
              <a:rPr sz="15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CAD4E1"/>
                </a:solidFill>
                <a:latin typeface="Tahoma"/>
                <a:cs typeface="Tahoma"/>
              </a:rPr>
              <a:t>13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CAD4E1"/>
                </a:solidFill>
                <a:latin typeface="Tahoma"/>
                <a:cs typeface="Tahoma"/>
              </a:rPr>
              <a:t>variáveis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independentes</a:t>
            </a:r>
            <a:r>
              <a:rPr sz="1500" spc="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(features).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4915" y="2433632"/>
            <a:ext cx="247649" cy="38098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32214" y="2981763"/>
            <a:ext cx="2858770" cy="1579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5" dirty="0">
                <a:solidFill>
                  <a:srgbClr val="38BCF7"/>
                </a:solidFill>
                <a:latin typeface="Arial Black"/>
                <a:cs typeface="Arial Black"/>
              </a:rPr>
              <a:t>Target</a:t>
            </a:r>
            <a:r>
              <a:rPr sz="2100" spc="-23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65" dirty="0">
                <a:solidFill>
                  <a:srgbClr val="38BCF7"/>
                </a:solidFill>
                <a:latin typeface="Arial Black"/>
                <a:cs typeface="Arial Black"/>
              </a:rPr>
              <a:t>=</a:t>
            </a:r>
            <a:r>
              <a:rPr sz="2100" spc="-229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50" dirty="0">
                <a:solidFill>
                  <a:srgbClr val="38BCF7"/>
                </a:solidFill>
                <a:latin typeface="Arial Black"/>
                <a:cs typeface="Arial Black"/>
              </a:rPr>
              <a:t>0</a:t>
            </a:r>
            <a:endParaRPr sz="21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1070"/>
              </a:spcBef>
            </a:pP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Representa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ausência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de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doença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cardíaca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detectada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AD4E1"/>
                </a:solidFill>
                <a:latin typeface="Tahoma"/>
                <a:cs typeface="Tahoma"/>
              </a:rPr>
              <a:t>nos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exames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clínicos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do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CAD4E1"/>
                </a:solidFill>
                <a:latin typeface="Tahoma"/>
                <a:cs typeface="Tahoma"/>
              </a:rPr>
              <a:t>paciente.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10507" y="2981763"/>
            <a:ext cx="2445385" cy="194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5" dirty="0">
                <a:solidFill>
                  <a:srgbClr val="38BCF7"/>
                </a:solidFill>
                <a:latin typeface="Arial Black"/>
                <a:cs typeface="Arial Black"/>
              </a:rPr>
              <a:t>Target</a:t>
            </a:r>
            <a:r>
              <a:rPr sz="2100" spc="-23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65" dirty="0">
                <a:solidFill>
                  <a:srgbClr val="38BCF7"/>
                </a:solidFill>
                <a:latin typeface="Arial Black"/>
                <a:cs typeface="Arial Black"/>
              </a:rPr>
              <a:t>=</a:t>
            </a:r>
            <a:r>
              <a:rPr sz="2100" spc="-229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670" dirty="0">
                <a:solidFill>
                  <a:srgbClr val="38BCF7"/>
                </a:solidFill>
                <a:latin typeface="Arial Black"/>
                <a:cs typeface="Arial Black"/>
              </a:rPr>
              <a:t>1</a:t>
            </a:r>
            <a:endParaRPr sz="21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1070"/>
              </a:spcBef>
            </a:pP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Representa</a:t>
            </a:r>
            <a:r>
              <a:rPr sz="1500" spc="-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sz="1500" spc="-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presença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confirmada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doença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cardíaca,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exigindo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atenção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médica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imediata.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Fluxo</a:t>
            </a:r>
            <a:r>
              <a:rPr spc="-340" dirty="0"/>
              <a:t> </a:t>
            </a:r>
            <a:r>
              <a:rPr spc="-70" dirty="0"/>
              <a:t>de</a:t>
            </a:r>
            <a:r>
              <a:rPr spc="-340" dirty="0"/>
              <a:t> </a:t>
            </a:r>
            <a:r>
              <a:rPr spc="-75" dirty="0"/>
              <a:t>Pré-</a:t>
            </a:r>
            <a:r>
              <a:rPr spc="-55" dirty="0"/>
              <a:t>Processamento</a:t>
            </a:r>
          </a:p>
        </p:txBody>
      </p:sp>
      <p:sp>
        <p:nvSpPr>
          <p:cNvPr id="3" name="object 3"/>
          <p:cNvSpPr/>
          <p:nvPr/>
        </p:nvSpPr>
        <p:spPr>
          <a:xfrm>
            <a:off x="571498" y="571498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49" y="600073"/>
                </a:moveTo>
                <a:lnTo>
                  <a:pt x="0" y="600073"/>
                </a:lnTo>
                <a:lnTo>
                  <a:pt x="0" y="0"/>
                </a:lnTo>
                <a:lnTo>
                  <a:pt x="57149" y="0"/>
                </a:lnTo>
                <a:lnTo>
                  <a:pt x="57149" y="600073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500184" y="2500295"/>
            <a:ext cx="762000" cy="762000"/>
            <a:chOff x="1500184" y="2500295"/>
            <a:chExt cx="762000" cy="7620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0184" y="2500295"/>
              <a:ext cx="761998" cy="7619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6883" y="2766994"/>
              <a:ext cx="228599" cy="2285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59820" y="3429437"/>
            <a:ext cx="204279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5" dirty="0">
                <a:solidFill>
                  <a:srgbClr val="38BCF7"/>
                </a:solidFill>
                <a:latin typeface="Arial Black"/>
                <a:cs typeface="Arial Black"/>
              </a:rPr>
              <a:t>Verificar</a:t>
            </a:r>
            <a:r>
              <a:rPr sz="2100" spc="-19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60" dirty="0">
                <a:solidFill>
                  <a:srgbClr val="38BCF7"/>
                </a:solidFill>
                <a:latin typeface="Arial Black"/>
                <a:cs typeface="Arial Black"/>
              </a:rPr>
              <a:t>Nulos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2471" y="4023034"/>
            <a:ext cx="25965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Limpeza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CAD4E1"/>
                </a:solidFill>
                <a:latin typeface="Tahoma"/>
                <a:cs typeface="Tahoma"/>
              </a:rPr>
              <a:t>dados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ausentes.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10041" y="2500295"/>
            <a:ext cx="762000" cy="762000"/>
            <a:chOff x="4310041" y="2500295"/>
            <a:chExt cx="762000" cy="7620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10041" y="2500295"/>
              <a:ext cx="761998" cy="7619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6741" y="2766994"/>
              <a:ext cx="228599" cy="2285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781838" y="3429437"/>
            <a:ext cx="181863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60" dirty="0">
                <a:solidFill>
                  <a:srgbClr val="38BCF7"/>
                </a:solidFill>
                <a:latin typeface="Arial Black"/>
                <a:cs typeface="Arial Black"/>
              </a:rPr>
              <a:t>Separar</a:t>
            </a:r>
            <a:r>
              <a:rPr sz="2100" spc="-23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55" dirty="0">
                <a:solidFill>
                  <a:srgbClr val="38BCF7"/>
                </a:solidFill>
                <a:latin typeface="Arial Black"/>
                <a:cs typeface="Arial Black"/>
              </a:rPr>
              <a:t>X</a:t>
            </a:r>
            <a:r>
              <a:rPr sz="2100" spc="-23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20" dirty="0">
                <a:solidFill>
                  <a:srgbClr val="38BCF7"/>
                </a:solidFill>
                <a:latin typeface="Arial Black"/>
                <a:cs typeface="Arial Black"/>
              </a:rPr>
              <a:t>e</a:t>
            </a:r>
            <a:r>
              <a:rPr sz="2100" spc="-23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50" dirty="0">
                <a:solidFill>
                  <a:srgbClr val="38BCF7"/>
                </a:solidFill>
                <a:latin typeface="Arial Black"/>
                <a:cs typeface="Arial Black"/>
              </a:rPr>
              <a:t>y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66516" y="4023034"/>
            <a:ext cx="224853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Isolamento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AD4E1"/>
                </a:solidFill>
                <a:latin typeface="Tahoma"/>
                <a:cs typeface="Tahoma"/>
              </a:rPr>
              <a:t>features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e</a:t>
            </a:r>
            <a:endParaRPr sz="150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  <a:spcBef>
                <a:spcPts val="1080"/>
              </a:spcBef>
            </a:pP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alvo.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19911" y="2500295"/>
            <a:ext cx="762000" cy="762000"/>
            <a:chOff x="7119911" y="2500295"/>
            <a:chExt cx="762000" cy="76200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9911" y="2500295"/>
              <a:ext cx="761998" cy="7619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58035" y="2766994"/>
              <a:ext cx="285749" cy="2285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377546" y="3429437"/>
            <a:ext cx="22472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0" dirty="0">
                <a:solidFill>
                  <a:srgbClr val="38BCF7"/>
                </a:solidFill>
                <a:latin typeface="Arial Black"/>
                <a:cs typeface="Arial Black"/>
              </a:rPr>
              <a:t>Tratar</a:t>
            </a:r>
            <a:r>
              <a:rPr sz="2100" spc="-21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45" dirty="0">
                <a:solidFill>
                  <a:srgbClr val="38BCF7"/>
                </a:solidFill>
                <a:latin typeface="Arial Black"/>
                <a:cs typeface="Arial Black"/>
              </a:rPr>
              <a:t>Variáveis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24714" y="4023034"/>
            <a:ext cx="23514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Encoding</a:t>
            </a:r>
            <a:r>
              <a:rPr sz="15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e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normalização.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929779" y="2500295"/>
            <a:ext cx="762000" cy="762000"/>
            <a:chOff x="9929779" y="2500295"/>
            <a:chExt cx="762000" cy="76200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9779" y="2500295"/>
              <a:ext cx="761998" cy="76199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82204" y="2766994"/>
              <a:ext cx="257174" cy="22859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426914" y="3429437"/>
            <a:ext cx="176783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60" dirty="0">
                <a:solidFill>
                  <a:srgbClr val="38BCF7"/>
                </a:solidFill>
                <a:latin typeface="Arial Black"/>
                <a:cs typeface="Arial Black"/>
              </a:rPr>
              <a:t>Dividir</a:t>
            </a:r>
            <a:r>
              <a:rPr sz="2100" spc="-21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38BCF7"/>
                </a:solidFill>
                <a:latin typeface="Arial Black"/>
                <a:cs typeface="Arial Black"/>
              </a:rPr>
              <a:t>80/20</a:t>
            </a:r>
            <a:endParaRPr sz="21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67472" y="4023034"/>
            <a:ext cx="24860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Treino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e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teste</a:t>
            </a:r>
            <a:r>
              <a:rPr sz="1500" spc="9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CAD4E1"/>
                </a:solidFill>
                <a:latin typeface="Tahoma"/>
                <a:cs typeface="Tahoma"/>
              </a:rPr>
              <a:t>estratificado.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1624009"/>
            <a:ext cx="2547919" cy="25907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5168" y="1624009"/>
            <a:ext cx="2547919" cy="25907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8862" y="1624009"/>
            <a:ext cx="2547919" cy="25907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2531" y="1624009"/>
            <a:ext cx="2547919" cy="259078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Modelagem:</a:t>
            </a:r>
            <a:r>
              <a:rPr spc="-310" dirty="0"/>
              <a:t> </a:t>
            </a:r>
            <a:r>
              <a:rPr spc="-85" dirty="0"/>
              <a:t>Classificadores</a:t>
            </a:r>
          </a:p>
        </p:txBody>
      </p:sp>
      <p:sp>
        <p:nvSpPr>
          <p:cNvPr id="7" name="object 7"/>
          <p:cNvSpPr/>
          <p:nvPr/>
        </p:nvSpPr>
        <p:spPr>
          <a:xfrm>
            <a:off x="571498" y="571498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49" y="600073"/>
                </a:moveTo>
                <a:lnTo>
                  <a:pt x="0" y="600073"/>
                </a:lnTo>
                <a:lnTo>
                  <a:pt x="0" y="0"/>
                </a:lnTo>
                <a:lnTo>
                  <a:pt x="57149" y="0"/>
                </a:lnTo>
                <a:lnTo>
                  <a:pt x="57149" y="600073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4073" y="1895915"/>
            <a:ext cx="1843405" cy="115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solidFill>
                  <a:srgbClr val="38BCF7"/>
                </a:solidFill>
                <a:latin typeface="Arial Black"/>
                <a:cs typeface="Arial Black"/>
              </a:rPr>
              <a:t>KNN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Vizinhança</a:t>
            </a:r>
            <a:r>
              <a:rPr sz="15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próxima.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b="1" spc="-45" dirty="0">
                <a:solidFill>
                  <a:srgbClr val="CAD4E1"/>
                </a:solidFill>
                <a:latin typeface="Tahoma"/>
                <a:cs typeface="Tahoma"/>
              </a:rPr>
              <a:t>n_neighbors</a:t>
            </a:r>
            <a:r>
              <a:rPr sz="1500" b="1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b="1" spc="-215" dirty="0">
                <a:solidFill>
                  <a:srgbClr val="CAD4E1"/>
                </a:solidFill>
                <a:latin typeface="Tahoma"/>
                <a:cs typeface="Tahoma"/>
              </a:rPr>
              <a:t>=</a:t>
            </a:r>
            <a:r>
              <a:rPr sz="1500" b="1" spc="-50" dirty="0">
                <a:solidFill>
                  <a:srgbClr val="CAD4E1"/>
                </a:solidFill>
                <a:latin typeface="Tahoma"/>
                <a:cs typeface="Tahoma"/>
              </a:rPr>
              <a:t> 5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7755" y="1895915"/>
            <a:ext cx="1712595" cy="194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75" dirty="0">
                <a:solidFill>
                  <a:srgbClr val="38BCF7"/>
                </a:solidFill>
                <a:latin typeface="Arial Black"/>
                <a:cs typeface="Arial Black"/>
              </a:rPr>
              <a:t>Naive</a:t>
            </a:r>
            <a:r>
              <a:rPr sz="2100" spc="-21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75" dirty="0">
                <a:solidFill>
                  <a:srgbClr val="38BCF7"/>
                </a:solidFill>
                <a:latin typeface="Arial Black"/>
                <a:cs typeface="Arial Black"/>
              </a:rPr>
              <a:t>Bayes</a:t>
            </a:r>
            <a:endParaRPr sz="2100">
              <a:latin typeface="Arial Black"/>
              <a:cs typeface="Arial Black"/>
            </a:endParaRPr>
          </a:p>
          <a:p>
            <a:pPr marL="12700" marR="361315">
              <a:lnSpc>
                <a:spcPct val="160000"/>
              </a:lnSpc>
              <a:spcBef>
                <a:spcPts val="1070"/>
              </a:spcBef>
            </a:pP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Gaussian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NB </a:t>
            </a:r>
            <a:r>
              <a:rPr sz="1500" spc="80" dirty="0">
                <a:solidFill>
                  <a:srgbClr val="CAD4E1"/>
                </a:solidFill>
                <a:latin typeface="Tahoma"/>
                <a:cs typeface="Tahoma"/>
              </a:rPr>
              <a:t>baseado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CAD4E1"/>
                </a:solidFill>
                <a:latin typeface="Tahoma"/>
                <a:cs typeface="Tahoma"/>
              </a:rPr>
              <a:t>em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probabilidades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condicionais.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21436" y="1895915"/>
            <a:ext cx="1531620" cy="1457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5" dirty="0">
                <a:solidFill>
                  <a:srgbClr val="38BCF7"/>
                </a:solidFill>
                <a:latin typeface="Arial Black"/>
                <a:cs typeface="Arial Black"/>
              </a:rPr>
              <a:t>SVM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RBF</a:t>
            </a:r>
            <a:r>
              <a:rPr sz="1500" spc="-5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Kernel.</a:t>
            </a:r>
            <a:endParaRPr sz="1500">
              <a:latin typeface="Tahoma"/>
              <a:cs typeface="Tahoma"/>
            </a:endParaRPr>
          </a:p>
          <a:p>
            <a:pPr marL="12700" marR="5080" indent="53340">
              <a:lnSpc>
                <a:spcPct val="133300"/>
              </a:lnSpc>
              <a:spcBef>
                <a:spcPts val="5"/>
              </a:spcBef>
            </a:pP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Alta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capacidade 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discriminativa.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55118" y="1895915"/>
            <a:ext cx="1366520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780">
              <a:lnSpc>
                <a:spcPct val="100000"/>
              </a:lnSpc>
              <a:spcBef>
                <a:spcPts val="100"/>
              </a:spcBef>
            </a:pPr>
            <a:r>
              <a:rPr sz="2100" spc="-70" dirty="0">
                <a:solidFill>
                  <a:srgbClr val="38BCF7"/>
                </a:solidFill>
                <a:latin typeface="Arial Black"/>
                <a:cs typeface="Arial Black"/>
              </a:rPr>
              <a:t>Árvore</a:t>
            </a:r>
            <a:r>
              <a:rPr sz="2100" spc="-22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25" dirty="0">
                <a:solidFill>
                  <a:srgbClr val="38BCF7"/>
                </a:solidFill>
                <a:latin typeface="Arial Black"/>
                <a:cs typeface="Arial Black"/>
              </a:rPr>
              <a:t>de </a:t>
            </a:r>
            <a:r>
              <a:rPr sz="2100" spc="-10" dirty="0">
                <a:solidFill>
                  <a:srgbClr val="38BCF7"/>
                </a:solidFill>
                <a:latin typeface="Arial Black"/>
                <a:cs typeface="Arial Black"/>
              </a:rPr>
              <a:t>Decisão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Interpretável.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b="1" spc="-20" dirty="0">
                <a:solidFill>
                  <a:srgbClr val="CAD4E1"/>
                </a:solidFill>
                <a:latin typeface="Tahoma"/>
                <a:cs typeface="Tahoma"/>
              </a:rPr>
              <a:t>Max</a:t>
            </a:r>
            <a:r>
              <a:rPr sz="1500" b="1" spc="-8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b="1" spc="-40" dirty="0">
                <a:solidFill>
                  <a:srgbClr val="CAD4E1"/>
                </a:solidFill>
                <a:latin typeface="Tahoma"/>
                <a:cs typeface="Tahoma"/>
              </a:rPr>
              <a:t>Depth</a:t>
            </a:r>
            <a:r>
              <a:rPr sz="1500" b="1" spc="-8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b="1" spc="-215" dirty="0">
                <a:solidFill>
                  <a:srgbClr val="CAD4E1"/>
                </a:solidFill>
                <a:latin typeface="Tahoma"/>
                <a:cs typeface="Tahoma"/>
              </a:rPr>
              <a:t>=</a:t>
            </a:r>
            <a:r>
              <a:rPr sz="1500" b="1" spc="-7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CAD4E1"/>
                </a:solidFill>
                <a:latin typeface="Tahoma"/>
                <a:cs typeface="Tahoma"/>
              </a:rPr>
              <a:t>5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298" y="542796"/>
            <a:ext cx="322770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Comitê</a:t>
            </a:r>
            <a:r>
              <a:rPr spc="-335" dirty="0"/>
              <a:t> </a:t>
            </a:r>
            <a:r>
              <a:rPr spc="-25" dirty="0"/>
              <a:t>de </a:t>
            </a:r>
            <a:r>
              <a:rPr spc="-105" dirty="0"/>
              <a:t>Classificadores</a:t>
            </a:r>
          </a:p>
        </p:txBody>
      </p:sp>
      <p:sp>
        <p:nvSpPr>
          <p:cNvPr id="3" name="object 3"/>
          <p:cNvSpPr/>
          <p:nvPr/>
        </p:nvSpPr>
        <p:spPr>
          <a:xfrm>
            <a:off x="571498" y="571498"/>
            <a:ext cx="57150" cy="1200150"/>
          </a:xfrm>
          <a:custGeom>
            <a:avLst/>
            <a:gdLst/>
            <a:ahLst/>
            <a:cxnLst/>
            <a:rect l="l" t="t" r="r" b="b"/>
            <a:pathLst>
              <a:path w="57150" h="1200150">
                <a:moveTo>
                  <a:pt x="57149" y="1200147"/>
                </a:moveTo>
                <a:lnTo>
                  <a:pt x="0" y="1200147"/>
                </a:lnTo>
                <a:lnTo>
                  <a:pt x="0" y="0"/>
                </a:lnTo>
                <a:lnTo>
                  <a:pt x="57149" y="0"/>
                </a:lnTo>
                <a:lnTo>
                  <a:pt x="57149" y="1200147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87" y="0"/>
            <a:ext cx="6095987" cy="68579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58798" y="2129277"/>
            <a:ext cx="4679950" cy="294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100" spc="-90" dirty="0">
                <a:solidFill>
                  <a:srgbClr val="38BCF7"/>
                </a:solidFill>
                <a:latin typeface="Arial Black"/>
                <a:cs typeface="Arial Black"/>
              </a:rPr>
              <a:t>Ensemble</a:t>
            </a:r>
            <a:r>
              <a:rPr sz="2100" spc="-22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85" dirty="0">
                <a:solidFill>
                  <a:srgbClr val="38BCF7"/>
                </a:solidFill>
                <a:latin typeface="Arial Black"/>
                <a:cs typeface="Arial Black"/>
              </a:rPr>
              <a:t>Learning</a:t>
            </a:r>
            <a:r>
              <a:rPr sz="2100" spc="-21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55" dirty="0">
                <a:solidFill>
                  <a:srgbClr val="38BCF7"/>
                </a:solidFill>
                <a:latin typeface="Arial Black"/>
                <a:cs typeface="Arial Black"/>
              </a:rPr>
              <a:t>—</a:t>
            </a:r>
            <a:r>
              <a:rPr sz="2100" spc="-21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38BCF7"/>
                </a:solidFill>
                <a:latin typeface="Arial Black"/>
                <a:cs typeface="Arial Black"/>
              </a:rPr>
              <a:t>Votação</a:t>
            </a:r>
            <a:endParaRPr sz="2100">
              <a:latin typeface="Arial Black"/>
              <a:cs typeface="Arial Black"/>
            </a:endParaRPr>
          </a:p>
          <a:p>
            <a:pPr marL="12700" marR="5080" algn="just">
              <a:lnSpc>
                <a:spcPct val="160000"/>
              </a:lnSpc>
              <a:spcBef>
                <a:spcPts val="1070"/>
              </a:spcBef>
            </a:pPr>
            <a:r>
              <a:rPr sz="1500" spc="10" dirty="0">
                <a:solidFill>
                  <a:srgbClr val="CAD4E1"/>
                </a:solidFill>
                <a:latin typeface="Tahoma"/>
                <a:cs typeface="Tahoma"/>
              </a:rPr>
              <a:t>Implementamos</a:t>
            </a:r>
            <a:r>
              <a:rPr sz="1500" spc="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CAD4E1"/>
                </a:solidFill>
                <a:latin typeface="Tahoma"/>
                <a:cs typeface="Tahoma"/>
              </a:rPr>
              <a:t>um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comitê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onde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cada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classificador 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vota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individualmente.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125" dirty="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classe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mais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votada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define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30" dirty="0">
                <a:solidFill>
                  <a:srgbClr val="CAD4E1"/>
                </a:solidFill>
                <a:latin typeface="Tahoma"/>
                <a:cs typeface="Tahoma"/>
              </a:rPr>
              <a:t>o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resultado</a:t>
            </a:r>
            <a:r>
              <a:rPr sz="1500" spc="-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final.</a:t>
            </a:r>
            <a:endParaRPr sz="1500">
              <a:latin typeface="Tahoma"/>
              <a:cs typeface="Tahoma"/>
            </a:endParaRPr>
          </a:p>
          <a:p>
            <a:pPr marL="345440" algn="just">
              <a:lnSpc>
                <a:spcPct val="100000"/>
              </a:lnSpc>
              <a:spcBef>
                <a:spcPts val="1140"/>
              </a:spcBef>
            </a:pP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Redução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erros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CAD4E1"/>
                </a:solidFill>
                <a:latin typeface="Tahoma"/>
                <a:cs typeface="Tahoma"/>
              </a:rPr>
              <a:t>individuais</a:t>
            </a:r>
            <a:endParaRPr sz="1500">
              <a:latin typeface="Tahoma"/>
              <a:cs typeface="Tahoma"/>
            </a:endParaRPr>
          </a:p>
          <a:p>
            <a:pPr marL="345440" marR="453390" algn="just">
              <a:lnSpc>
                <a:spcPct val="216699"/>
              </a:lnSpc>
            </a:pP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Aumento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da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robustez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preditiva</a:t>
            </a:r>
            <a:r>
              <a:rPr sz="1500" spc="50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CAD4E1"/>
                </a:solidFill>
                <a:latin typeface="Tahoma"/>
                <a:cs typeface="Tahoma"/>
              </a:rPr>
              <a:t>Combinação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pontos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fortes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dos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modelos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3848092"/>
            <a:ext cx="190499" cy="200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4343391"/>
            <a:ext cx="190499" cy="200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4838690"/>
            <a:ext cx="190499" cy="200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Resultados</a:t>
            </a:r>
            <a:r>
              <a:rPr spc="-335" dirty="0"/>
              <a:t> </a:t>
            </a:r>
            <a:r>
              <a:rPr spc="-175" dirty="0"/>
              <a:t>e</a:t>
            </a:r>
            <a:r>
              <a:rPr spc="-335" dirty="0"/>
              <a:t> </a:t>
            </a:r>
            <a:r>
              <a:rPr spc="-105" dirty="0"/>
              <a:t>Métricas</a:t>
            </a:r>
          </a:p>
        </p:txBody>
      </p:sp>
      <p:sp>
        <p:nvSpPr>
          <p:cNvPr id="3" name="object 3"/>
          <p:cNvSpPr/>
          <p:nvPr/>
        </p:nvSpPr>
        <p:spPr>
          <a:xfrm>
            <a:off x="571498" y="571498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49" y="600073"/>
                </a:moveTo>
                <a:lnTo>
                  <a:pt x="0" y="600073"/>
                </a:lnTo>
                <a:lnTo>
                  <a:pt x="0" y="0"/>
                </a:lnTo>
                <a:lnTo>
                  <a:pt x="57149" y="0"/>
                </a:lnTo>
                <a:lnTo>
                  <a:pt x="57149" y="600073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Performance</a:t>
            </a:r>
            <a:r>
              <a:rPr spc="-325" dirty="0"/>
              <a:t> </a:t>
            </a:r>
            <a:r>
              <a:rPr spc="-50" dirty="0"/>
              <a:t>do</a:t>
            </a:r>
            <a:r>
              <a:rPr spc="-325" dirty="0"/>
              <a:t> </a:t>
            </a:r>
            <a:r>
              <a:rPr spc="-50" dirty="0"/>
              <a:t>Comitê</a:t>
            </a:r>
          </a:p>
        </p:txBody>
      </p:sp>
      <p:sp>
        <p:nvSpPr>
          <p:cNvPr id="3" name="object 3"/>
          <p:cNvSpPr/>
          <p:nvPr/>
        </p:nvSpPr>
        <p:spPr>
          <a:xfrm>
            <a:off x="571498" y="571498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49" y="600073"/>
                </a:moveTo>
                <a:lnTo>
                  <a:pt x="0" y="600073"/>
                </a:lnTo>
                <a:lnTo>
                  <a:pt x="0" y="0"/>
                </a:lnTo>
                <a:lnTo>
                  <a:pt x="57149" y="0"/>
                </a:lnTo>
                <a:lnTo>
                  <a:pt x="57149" y="600073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8798" y="2715063"/>
            <a:ext cx="40398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80" dirty="0">
                <a:solidFill>
                  <a:srgbClr val="38BCF7"/>
                </a:solidFill>
                <a:latin typeface="Arial Black"/>
                <a:cs typeface="Arial Black"/>
              </a:rPr>
              <a:t>Matriz</a:t>
            </a:r>
            <a:r>
              <a:rPr sz="2100" spc="-22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50" dirty="0">
                <a:solidFill>
                  <a:srgbClr val="38BCF7"/>
                </a:solidFill>
                <a:latin typeface="Arial Black"/>
                <a:cs typeface="Arial Black"/>
              </a:rPr>
              <a:t>de</a:t>
            </a:r>
            <a:r>
              <a:rPr sz="2100" spc="-22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50" dirty="0">
                <a:solidFill>
                  <a:srgbClr val="38BCF7"/>
                </a:solidFill>
                <a:latin typeface="Arial Black"/>
                <a:cs typeface="Arial Black"/>
              </a:rPr>
              <a:t>Confusão</a:t>
            </a:r>
            <a:r>
              <a:rPr sz="2100" spc="-22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55" dirty="0">
                <a:solidFill>
                  <a:srgbClr val="38BCF7"/>
                </a:solidFill>
                <a:latin typeface="Arial Black"/>
                <a:cs typeface="Arial Black"/>
              </a:rPr>
              <a:t>—</a:t>
            </a:r>
            <a:r>
              <a:rPr sz="2100" spc="-225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38BCF7"/>
                </a:solidFill>
                <a:latin typeface="Arial Black"/>
                <a:cs typeface="Arial Black"/>
              </a:rPr>
              <a:t>Comitê</a:t>
            </a:r>
            <a:endParaRPr sz="210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693" y="3307181"/>
            <a:ext cx="5328339" cy="1861258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1498" y="3324205"/>
          <a:ext cx="5238749" cy="1760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8BC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8BCF7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35"/>
                        </a:spcBef>
                        <a:tabLst>
                          <a:tab pos="1998980" algn="l"/>
                        </a:tabLst>
                      </a:pPr>
                      <a:r>
                        <a:rPr sz="1350" b="1" spc="-25" dirty="0">
                          <a:solidFill>
                            <a:srgbClr val="21C45D"/>
                          </a:solidFill>
                          <a:latin typeface="Tahoma"/>
                          <a:cs typeface="Tahoma"/>
                        </a:rPr>
                        <a:t>96</a:t>
                      </a:r>
                      <a:r>
                        <a:rPr sz="1350" b="1" dirty="0">
                          <a:solidFill>
                            <a:srgbClr val="21C45D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1350" spc="80" dirty="0">
                          <a:solidFill>
                            <a:srgbClr val="F7F9FB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94945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FD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8BCF7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535"/>
                        </a:spcBef>
                        <a:tabLst>
                          <a:tab pos="1998980" algn="l"/>
                        </a:tabLst>
                      </a:pPr>
                      <a:r>
                        <a:rPr sz="1350" spc="-25" dirty="0">
                          <a:solidFill>
                            <a:srgbClr val="F7F9FB"/>
                          </a:solidFill>
                          <a:latin typeface="Tahoma"/>
                          <a:cs typeface="Tahoma"/>
                        </a:rPr>
                        <a:t>11</a:t>
                      </a:r>
                      <a:r>
                        <a:rPr sz="1350" dirty="0">
                          <a:solidFill>
                            <a:srgbClr val="F7F9FB"/>
                          </a:solidFill>
                          <a:latin typeface="Tahoma"/>
                          <a:cs typeface="Tahoma"/>
                        </a:rPr>
                        <a:t>	</a:t>
                      </a:r>
                      <a:r>
                        <a:rPr sz="1350" b="1" spc="-25" dirty="0">
                          <a:solidFill>
                            <a:srgbClr val="21C45D"/>
                          </a:solidFill>
                          <a:latin typeface="Tahoma"/>
                          <a:cs typeface="Tahoma"/>
                        </a:rPr>
                        <a:t>94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94945" marB="0"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369037" y="4432608"/>
            <a:ext cx="487997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25" dirty="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baixa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taxa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falsos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negativos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35" dirty="0">
                <a:solidFill>
                  <a:srgbClr val="CAD4E1"/>
                </a:solidFill>
                <a:latin typeface="Tahoma"/>
                <a:cs typeface="Tahoma"/>
              </a:rPr>
              <a:t>(11)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é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crucial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para</a:t>
            </a:r>
            <a:r>
              <a:rPr sz="1500" spc="-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25" dirty="0">
                <a:solidFill>
                  <a:srgbClr val="CAD4E1"/>
                </a:solidFill>
                <a:latin typeface="Tahoma"/>
                <a:cs typeface="Tahoma"/>
              </a:rPr>
              <a:t>um</a:t>
            </a:r>
            <a:endParaRPr sz="1500">
              <a:latin typeface="Tahoma"/>
              <a:cs typeface="Tahoma"/>
            </a:endParaRPr>
          </a:p>
          <a:p>
            <a:pPr marL="12700" marR="42545">
              <a:lnSpc>
                <a:spcPct val="160000"/>
              </a:lnSpc>
            </a:pP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diagnóstico</a:t>
            </a:r>
            <a:r>
              <a:rPr sz="1500" spc="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médico,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10" dirty="0">
                <a:solidFill>
                  <a:srgbClr val="CAD4E1"/>
                </a:solidFill>
                <a:latin typeface="Tahoma"/>
                <a:cs typeface="Tahoma"/>
              </a:rPr>
              <a:t>garantindo</a:t>
            </a:r>
            <a:r>
              <a:rPr sz="1500" spc="3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que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menos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pacientes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doentes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fiquem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CAD4E1"/>
                </a:solidFill>
                <a:latin typeface="Tahoma"/>
                <a:cs typeface="Tahoma"/>
              </a:rPr>
              <a:t>sem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tratamento.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4311" y="2553139"/>
            <a:ext cx="4361180" cy="1213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40" dirty="0">
                <a:solidFill>
                  <a:srgbClr val="38BCF7"/>
                </a:solidFill>
                <a:latin typeface="Arial Black"/>
                <a:cs typeface="Arial Black"/>
              </a:rPr>
              <a:t>92,89%</a:t>
            </a:r>
            <a:r>
              <a:rPr sz="2100" spc="-254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50" dirty="0">
                <a:solidFill>
                  <a:srgbClr val="38BCF7"/>
                </a:solidFill>
                <a:latin typeface="Arial Black"/>
                <a:cs typeface="Arial Black"/>
              </a:rPr>
              <a:t>de</a:t>
            </a:r>
            <a:r>
              <a:rPr sz="2100" spc="-250" dirty="0">
                <a:solidFill>
                  <a:srgbClr val="38BCF7"/>
                </a:solidFill>
                <a:latin typeface="Arial Black"/>
                <a:cs typeface="Arial Black"/>
              </a:rPr>
              <a:t> </a:t>
            </a:r>
            <a:r>
              <a:rPr sz="2100" spc="-10" dirty="0">
                <a:solidFill>
                  <a:srgbClr val="38BCF7"/>
                </a:solidFill>
                <a:latin typeface="Arial Black"/>
                <a:cs typeface="Arial Black"/>
              </a:rPr>
              <a:t>Acurácia</a:t>
            </a:r>
            <a:endParaRPr sz="21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1070"/>
              </a:spcBef>
            </a:pP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O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Comitê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obteve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a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maior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precisão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do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estudo.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O </a:t>
            </a:r>
            <a:r>
              <a:rPr sz="1500" spc="150" dirty="0">
                <a:solidFill>
                  <a:srgbClr val="CAD4E1"/>
                </a:solidFill>
                <a:latin typeface="Tahoma"/>
                <a:cs typeface="Tahoma"/>
              </a:rPr>
              <a:t>SVM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destacou-</a:t>
            </a:r>
            <a:r>
              <a:rPr sz="1500" spc="120" dirty="0">
                <a:solidFill>
                  <a:srgbClr val="CAD4E1"/>
                </a:solidFill>
                <a:latin typeface="Tahoma"/>
                <a:cs typeface="Tahoma"/>
              </a:rPr>
              <a:t>se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AD4E1"/>
                </a:solidFill>
                <a:latin typeface="Tahoma"/>
                <a:cs typeface="Tahoma"/>
              </a:rPr>
              <a:t>individualmente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95" dirty="0">
                <a:solidFill>
                  <a:srgbClr val="CAD4E1"/>
                </a:solidFill>
                <a:latin typeface="Tahoma"/>
                <a:cs typeface="Tahoma"/>
              </a:rPr>
              <a:t>com</a:t>
            </a:r>
            <a:r>
              <a:rPr sz="1500" spc="-4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92,68%.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298" y="542796"/>
            <a:ext cx="3996690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Conclusão</a:t>
            </a:r>
            <a:r>
              <a:rPr spc="-340" dirty="0"/>
              <a:t> </a:t>
            </a:r>
            <a:r>
              <a:rPr spc="-175" dirty="0"/>
              <a:t>e</a:t>
            </a:r>
            <a:r>
              <a:rPr spc="-335" dirty="0"/>
              <a:t> </a:t>
            </a:r>
            <a:r>
              <a:rPr spc="-80" dirty="0"/>
              <a:t>Futuro</a:t>
            </a:r>
          </a:p>
        </p:txBody>
      </p:sp>
      <p:sp>
        <p:nvSpPr>
          <p:cNvPr id="3" name="object 3"/>
          <p:cNvSpPr/>
          <p:nvPr/>
        </p:nvSpPr>
        <p:spPr>
          <a:xfrm>
            <a:off x="571498" y="571498"/>
            <a:ext cx="57150" cy="600075"/>
          </a:xfrm>
          <a:custGeom>
            <a:avLst/>
            <a:gdLst/>
            <a:ahLst/>
            <a:cxnLst/>
            <a:rect l="l" t="t" r="r" b="b"/>
            <a:pathLst>
              <a:path w="57150" h="600075">
                <a:moveTo>
                  <a:pt x="57149" y="600073"/>
                </a:moveTo>
                <a:lnTo>
                  <a:pt x="0" y="600073"/>
                </a:lnTo>
                <a:lnTo>
                  <a:pt x="0" y="0"/>
                </a:lnTo>
                <a:lnTo>
                  <a:pt x="57149" y="0"/>
                </a:lnTo>
                <a:lnTo>
                  <a:pt x="57149" y="600073"/>
                </a:lnTo>
                <a:close/>
              </a:path>
            </a:pathLst>
          </a:custGeom>
          <a:solidFill>
            <a:srgbClr val="38BCF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37" y="2014533"/>
            <a:ext cx="5238739" cy="380997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Principais</a:t>
            </a:r>
            <a:r>
              <a:rPr spc="-200" dirty="0"/>
              <a:t> </a:t>
            </a:r>
            <a:r>
              <a:rPr spc="-10" dirty="0"/>
              <a:t>Insights</a:t>
            </a:r>
          </a:p>
          <a:p>
            <a:pPr marL="726440" marR="5080">
              <a:lnSpc>
                <a:spcPct val="160000"/>
              </a:lnSpc>
              <a:spcBef>
                <a:spcPts val="770"/>
              </a:spcBef>
            </a:pP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Todos</a:t>
            </a:r>
            <a:r>
              <a:rPr sz="1500" spc="-4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os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modelos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classificaram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corretamente</a:t>
            </a:r>
            <a:r>
              <a:rPr sz="1500" spc="-3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CAD4E1"/>
                </a:solidFill>
                <a:latin typeface="Tahoma"/>
                <a:cs typeface="Tahoma"/>
              </a:rPr>
              <a:t>a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maioria</a:t>
            </a:r>
            <a:r>
              <a:rPr sz="1500" spc="10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dos</a:t>
            </a:r>
            <a:r>
              <a:rPr sz="1500" spc="10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5" dirty="0">
                <a:solidFill>
                  <a:srgbClr val="CAD4E1"/>
                </a:solidFill>
                <a:latin typeface="Tahoma"/>
                <a:cs typeface="Tahoma"/>
              </a:rPr>
              <a:t>pacientes.</a:t>
            </a:r>
            <a:endParaRPr sz="1500">
              <a:latin typeface="Tahoma"/>
              <a:cs typeface="Tahoma"/>
            </a:endParaRPr>
          </a:p>
          <a:p>
            <a:pPr marL="726440" marR="448945">
              <a:lnSpc>
                <a:spcPct val="160000"/>
              </a:lnSpc>
              <a:spcBef>
                <a:spcPts val="540"/>
              </a:spcBef>
            </a:pP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O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CAD4E1"/>
                </a:solidFill>
                <a:latin typeface="Tahoma"/>
                <a:cs typeface="Tahoma"/>
              </a:rPr>
              <a:t>Ensemble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Learning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(Comitê)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aumentou</a:t>
            </a:r>
            <a:r>
              <a:rPr sz="1500" spc="9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50" dirty="0">
                <a:solidFill>
                  <a:srgbClr val="CAD4E1"/>
                </a:solidFill>
                <a:latin typeface="Tahoma"/>
                <a:cs typeface="Tahoma"/>
              </a:rPr>
              <a:t>a </a:t>
            </a: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confiabilidade</a:t>
            </a:r>
            <a:r>
              <a:rPr sz="1500" spc="1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CAD4E1"/>
                </a:solidFill>
                <a:latin typeface="Tahoma"/>
                <a:cs typeface="Tahoma"/>
              </a:rPr>
              <a:t>diagnóstica.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70" dirty="0"/>
              <a:t>Trabalhos</a:t>
            </a:r>
            <a:r>
              <a:rPr spc="-204" dirty="0"/>
              <a:t> </a:t>
            </a:r>
            <a:r>
              <a:rPr spc="-10" dirty="0"/>
              <a:t>Futuros</a:t>
            </a:r>
          </a:p>
          <a:p>
            <a:pPr marL="726440" marR="273050">
              <a:lnSpc>
                <a:spcPts val="3900"/>
              </a:lnSpc>
              <a:spcBef>
                <a:spcPts val="229"/>
              </a:spcBef>
            </a:pP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Explorar</a:t>
            </a:r>
            <a:r>
              <a:rPr sz="1500" spc="16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Random</a:t>
            </a:r>
            <a:r>
              <a:rPr sz="1500" spc="16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Forest</a:t>
            </a:r>
            <a:r>
              <a:rPr sz="1500" spc="16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e</a:t>
            </a:r>
            <a:r>
              <a:rPr sz="1500" spc="16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Gradient</a:t>
            </a:r>
            <a:r>
              <a:rPr sz="1500" spc="16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CAD4E1"/>
                </a:solidFill>
                <a:latin typeface="Tahoma"/>
                <a:cs typeface="Tahoma"/>
              </a:rPr>
              <a:t>Boosting. </a:t>
            </a:r>
            <a:r>
              <a:rPr sz="1500" spc="65" dirty="0">
                <a:solidFill>
                  <a:srgbClr val="CAD4E1"/>
                </a:solidFill>
                <a:latin typeface="Tahoma"/>
                <a:cs typeface="Tahoma"/>
              </a:rPr>
              <a:t>Otimização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fina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CAD4E1"/>
                </a:solidFill>
                <a:latin typeface="Tahoma"/>
                <a:cs typeface="Tahoma"/>
              </a:rPr>
              <a:t>de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hiperparâmetros.</a:t>
            </a:r>
            <a:endParaRPr sz="1500">
              <a:latin typeface="Tahoma"/>
              <a:cs typeface="Tahoma"/>
            </a:endParaRPr>
          </a:p>
          <a:p>
            <a:pPr marL="726440" marR="186055">
              <a:lnSpc>
                <a:spcPct val="160000"/>
              </a:lnSpc>
              <a:spcBef>
                <a:spcPts val="540"/>
              </a:spcBef>
            </a:pPr>
            <a:r>
              <a:rPr sz="1500" spc="60" dirty="0">
                <a:solidFill>
                  <a:srgbClr val="CAD4E1"/>
                </a:solidFill>
                <a:latin typeface="Tahoma"/>
                <a:cs typeface="Tahoma"/>
              </a:rPr>
              <a:t>Validação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CAD4E1"/>
                </a:solidFill>
                <a:latin typeface="Tahoma"/>
                <a:cs typeface="Tahoma"/>
              </a:rPr>
              <a:t>cruzada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CAD4E1"/>
                </a:solidFill>
                <a:latin typeface="Tahoma"/>
                <a:cs typeface="Tahoma"/>
              </a:rPr>
              <a:t>para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CAD4E1"/>
                </a:solidFill>
                <a:latin typeface="Tahoma"/>
                <a:cs typeface="Tahoma"/>
              </a:rPr>
              <a:t>resultados</a:t>
            </a:r>
            <a:r>
              <a:rPr sz="1500" spc="15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CAD4E1"/>
                </a:solidFill>
                <a:latin typeface="Tahoma"/>
                <a:cs typeface="Tahoma"/>
              </a:rPr>
              <a:t>ainda</a:t>
            </a:r>
            <a:r>
              <a:rPr sz="1500" spc="20" dirty="0">
                <a:solidFill>
                  <a:srgbClr val="CAD4E1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CAD4E1"/>
                </a:solidFill>
                <a:latin typeface="Tahoma"/>
                <a:cs typeface="Tahoma"/>
              </a:rPr>
              <a:t>mais </a:t>
            </a:r>
            <a:r>
              <a:rPr sz="1500" spc="40" dirty="0">
                <a:solidFill>
                  <a:srgbClr val="CAD4E1"/>
                </a:solidFill>
                <a:latin typeface="Tahoma"/>
                <a:cs typeface="Tahoma"/>
              </a:rPr>
              <a:t>robustos.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498" y="2176458"/>
            <a:ext cx="190499" cy="2000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498" y="2976544"/>
            <a:ext cx="190499" cy="2000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498" y="4424341"/>
            <a:ext cx="190499" cy="2000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498" y="4919640"/>
            <a:ext cx="190499" cy="2000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498" y="5414939"/>
            <a:ext cx="190499" cy="200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373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 Black</vt:lpstr>
      <vt:lpstr>Tahoma</vt:lpstr>
      <vt:lpstr>Times New Roman</vt:lpstr>
      <vt:lpstr>Office Theme</vt:lpstr>
      <vt:lpstr>Apresentação do PowerPoint</vt:lpstr>
      <vt:lpstr>Introdução</vt:lpstr>
      <vt:lpstr>Base de Dados</vt:lpstr>
      <vt:lpstr>Definição do Problema</vt:lpstr>
      <vt:lpstr>Fluxo de Pré-Processamento</vt:lpstr>
      <vt:lpstr>Modelagem: Classificadores</vt:lpstr>
      <vt:lpstr>Comitê de Classificadores</vt:lpstr>
      <vt:lpstr>Resultados e Métricas</vt:lpstr>
      <vt:lpstr>Performance do Comitê</vt:lpstr>
      <vt:lpstr>Conclusão e Futuro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de Doenças Cardíacas - Machine Learning</dc:title>
  <dc:creator>user</dc:creator>
  <cp:lastModifiedBy>user</cp:lastModifiedBy>
  <cp:revision>1</cp:revision>
  <dcterms:created xsi:type="dcterms:W3CDTF">2026-06-10T15:59:28Z</dcterms:created>
  <dcterms:modified xsi:type="dcterms:W3CDTF">2026-06-10T16:01:48Z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2026-06-10T00:00:00Z</vt:filetime>
  </property>
  <property fmtid="{D5CDD505-2E9C-101B-9397-08002B2CF9AE}" pid="3" name="Creator">
    <vt:lpwstr>Google</vt:lpwstr>
  </property>
  <property fmtid="{D5CDD505-2E9C-101B-9397-08002B2CF9AE}" pid="4" name="LastSaved">
    <vt:filetime>2026-06-10T00:00:00Z</vt:filetime>
  </property>
  <property fmtid="{D5CDD505-2E9C-101B-9397-08002B2CF9AE}" pid="5" name="Producer">
    <vt:lpwstr>3-Heights(TM) PDF Security Shell 4.8.25.2 (http://www.pdf-tools.com)</vt:lpwstr>
  </property>
</Properties>
</file>